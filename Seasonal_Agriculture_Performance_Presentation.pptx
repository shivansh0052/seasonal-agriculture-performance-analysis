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45" r:id="rId10"/>
    <p:sldId id="339" r:id="rId11"/>
    <p:sldId id="340" r:id="rId12"/>
    <p:sldId id="344" r:id="rId13"/>
    <p:sldId id="346" r:id="rId14"/>
    <p:sldId id="347" r:id="rId15"/>
    <p:sldId id="348" r:id="rId16"/>
    <p:sldId id="349" r:id="rId17"/>
    <p:sldId id="350"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8" y="3583914"/>
            <a:ext cx="7473043" cy="861497"/>
          </a:xfrm>
        </p:spPr>
        <p:txBody>
          <a:bodyPr vert="horz" lIns="91440" tIns="45720" rIns="91440" bIns="45720" rtlCol="0" anchor="t">
            <a:normAutofit/>
          </a:bodyPr>
          <a:lstStyle/>
          <a:p>
            <a:pPr algn="r"/>
            <a:r>
              <a:rPr lang="en-US" b="0" dirty="0">
                <a:solidFill>
                  <a:schemeClr val="tx1"/>
                </a:solidFill>
              </a:rPr>
              <a:t>Shivansh Mishra</a:t>
            </a:r>
            <a:endParaRPr lang="en-IN" b="0" dirty="0">
              <a:solidFill>
                <a:schemeClr val="tx1"/>
              </a:solidFill>
            </a:endParaRPr>
          </a:p>
          <a:p>
            <a:pPr algn="r"/>
            <a:r>
              <a:rPr lang="en-US" b="0" dirty="0">
                <a:solidFill>
                  <a:schemeClr val="tx1"/>
                </a:solidFill>
              </a:rPr>
              <a:t>Feroze Gandhi Institute of Engineering and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81001" y="2844750"/>
            <a:ext cx="7293428" cy="810748"/>
          </a:xfrm>
        </p:spPr>
        <p:txBody>
          <a:bodyPr>
            <a:normAutofit fontScale="90000"/>
          </a:bodyPr>
          <a:lstStyle/>
          <a:p>
            <a:r>
              <a:rPr lang="en-IN" b="1" dirty="0"/>
              <a:t> Seasonal Agriculture Performance Analysis</a:t>
            </a:r>
            <a:br>
              <a:rPr lang="en-IN" b="1"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6292479" cy="369332"/>
          </a:xfrm>
          <a:prstGeom prst="rect">
            <a:avLst/>
          </a:prstGeom>
          <a:noFill/>
        </p:spPr>
        <p:txBody>
          <a:bodyPr wrap="square" rtlCol="0">
            <a:spAutoFit/>
          </a:bodyPr>
          <a:lstStyle/>
          <a:p>
            <a:r>
              <a:rPr lang="en-US" b="1" dirty="0"/>
              <a:t>AICTE STU ID : </a:t>
            </a:r>
            <a:r>
              <a:rPr lang="en-IN" dirty="0"/>
              <a:t>STU682f5470736fd1747932272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50000"/>
              </a:lnSpc>
            </a:pPr>
            <a:r>
              <a:rPr lang="en-IN" sz="2800" dirty="0"/>
              <a:t>(</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233539" y="4637314"/>
            <a:ext cx="2760758" cy="2316577"/>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Title 3">
            <a:extLst>
              <a:ext uri="{FF2B5EF4-FFF2-40B4-BE49-F238E27FC236}">
                <a16:creationId xmlns:a16="http://schemas.microsoft.com/office/drawing/2014/main" id="{FD394AE9-0527-7700-CDF9-BFD8C4DF536C}"/>
              </a:ext>
            </a:extLst>
          </p:cNvPr>
          <p:cNvSpPr txBox="1">
            <a:spLocks/>
          </p:cNvSpPr>
          <p:nvPr/>
        </p:nvSpPr>
        <p:spPr>
          <a:xfrm>
            <a:off x="1613918" y="2062080"/>
            <a:ext cx="8117911" cy="2787506"/>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500"/>
              </a:spcAft>
              <a:defRPr sz="1600"/>
            </a:pPr>
            <a:r>
              <a:rPr lang="en-US" sz="2000" b="0" dirty="0"/>
              <a:t>Raw agricultural data contains environmental, farming, resource, production and economic information, but seasonal differences are not immediately clear.</a:t>
            </a:r>
          </a:p>
          <a:p>
            <a:pPr>
              <a:spcAft>
                <a:spcPts val="500"/>
              </a:spcAft>
              <a:defRPr sz="1600"/>
            </a:pPr>
            <a:endParaRPr lang="en-US" sz="2000" b="0" dirty="0"/>
          </a:p>
          <a:p>
            <a:pPr>
              <a:spcAft>
                <a:spcPts val="500"/>
              </a:spcAft>
              <a:defRPr sz="1600"/>
            </a:pPr>
            <a:r>
              <a:rPr lang="en-US" sz="2000" b="0" dirty="0"/>
              <a:t>The project analyzes seasonal variation in crop yield, production, environment, resource use, water efficiency, profit and disease/pest risk.</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6502" y="193040"/>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378D32F3-D71B-1584-FCD6-8332B3EDE838}"/>
              </a:ext>
            </a:extLst>
          </p:cNvPr>
          <p:cNvSpPr txBox="1"/>
          <p:nvPr/>
        </p:nvSpPr>
        <p:spPr>
          <a:xfrm>
            <a:off x="300400" y="1314096"/>
            <a:ext cx="5910943" cy="4247317"/>
          </a:xfrm>
          <a:prstGeom prst="rect">
            <a:avLst/>
          </a:prstGeom>
          <a:noFill/>
        </p:spPr>
        <p:txBody>
          <a:bodyPr wrap="square">
            <a:spAutoFit/>
          </a:bodyPr>
          <a:lstStyle/>
          <a:p>
            <a:pPr marL="400050" indent="-400050">
              <a:buFont typeface="+mj-lt"/>
              <a:buAutoNum type="romanUcPeriod"/>
            </a:pPr>
            <a:r>
              <a:rPr lang="en-IN" b="1" dirty="0">
                <a:latin typeface="Aptos" panose="020B0004020202020204" pitchFamily="34" charset="0"/>
              </a:rPr>
              <a:t>This project focuses on </a:t>
            </a:r>
            <a:r>
              <a:rPr lang="en-IN" b="1" dirty="0" err="1">
                <a:latin typeface="Aptos" panose="020B0004020202020204" pitchFamily="34" charset="0"/>
              </a:rPr>
              <a:t>analyzing</a:t>
            </a:r>
            <a:r>
              <a:rPr lang="en-IN" b="1" dirty="0">
                <a:latin typeface="Aptos" panose="020B0004020202020204" pitchFamily="34" charset="0"/>
              </a:rPr>
              <a:t> agricultural performance across different seasons, crops, and geographical regions using data visualization and statistical analysis.</a:t>
            </a:r>
          </a:p>
          <a:p>
            <a:pPr marL="400050" indent="-400050">
              <a:buFont typeface="+mj-lt"/>
              <a:buAutoNum type="romanUcPeriod"/>
            </a:pPr>
            <a:r>
              <a:rPr lang="en-IN" b="1" dirty="0">
                <a:latin typeface="Aptos" panose="020B0004020202020204" pitchFamily="34" charset="0"/>
              </a:rPr>
              <a:t>The analysis examines important factors such as crop yield, production, rainfall, temperature, soil conditions, irrigation, fertilizer usage, water efficiency, disease/pest risk, revenue, cost, and profit.</a:t>
            </a:r>
          </a:p>
          <a:p>
            <a:pPr marL="400050" indent="-400050">
              <a:buFont typeface="+mj-lt"/>
              <a:buAutoNum type="romanUcPeriod"/>
            </a:pPr>
            <a:r>
              <a:rPr lang="en-IN" b="1" dirty="0">
                <a:latin typeface="Aptos" panose="020B0004020202020204" pitchFamily="34" charset="0"/>
              </a:rPr>
              <a:t>The project identifies seasonal patterns, crop-wise variations, relationships between environmental and agricultural factors, and unusual observations. The insights obtained from the analysis can help in better crop planning, resource management, and improving agricultural productivity and profitability.</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spcAft>
                <a:spcPts val="500"/>
              </a:spcAft>
              <a:defRPr sz="1600"/>
            </a:pPr>
            <a:r>
              <a:rPr lang="en-US" dirty="0"/>
              <a:t>• Farmers – seasonal crop and resource planning</a:t>
            </a:r>
            <a:endParaRPr lang="en-US" sz="2800" dirty="0"/>
          </a:p>
          <a:p>
            <a:pPr>
              <a:spcAft>
                <a:spcPts val="500"/>
              </a:spcAft>
              <a:defRPr sz="1600"/>
            </a:pPr>
            <a:r>
              <a:rPr lang="en-US" dirty="0"/>
              <a:t>• Agricultural planners – evidence-based decisions</a:t>
            </a:r>
          </a:p>
          <a:p>
            <a:pPr>
              <a:spcAft>
                <a:spcPts val="500"/>
              </a:spcAft>
              <a:defRPr sz="1600"/>
            </a:pPr>
            <a:r>
              <a:rPr lang="en-US" dirty="0"/>
              <a:t>• Farm managers – yield, cost and water monitoring</a:t>
            </a:r>
          </a:p>
          <a:p>
            <a:pPr>
              <a:spcAft>
                <a:spcPts val="500"/>
              </a:spcAft>
              <a:defRPr sz="1600"/>
            </a:pPr>
            <a:r>
              <a:rPr lang="en-US" dirty="0"/>
              <a:t>• Researchers/analysts – pattern discovery</a:t>
            </a:r>
          </a:p>
          <a:p>
            <a:pPr>
              <a:spcAft>
                <a:spcPts val="500"/>
              </a:spcAft>
              <a:defRPr sz="1600"/>
            </a:pPr>
            <a:r>
              <a:rPr lang="en-US" dirty="0"/>
              <a:t>• Policy/advisory teams – regional planning</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a:bodyPr>
          <a:lstStyle/>
          <a:p>
            <a:pPr>
              <a:spcAft>
                <a:spcPts val="500"/>
              </a:spcAft>
              <a:defRPr sz="1600"/>
            </a:pPr>
            <a:r>
              <a:rPr lang="en-IN" dirty="0"/>
              <a:t>Python</a:t>
            </a:r>
          </a:p>
          <a:p>
            <a:pPr>
              <a:spcAft>
                <a:spcPts val="500"/>
              </a:spcAft>
              <a:defRPr sz="1600"/>
            </a:pPr>
            <a:r>
              <a:rPr lang="en-IN" dirty="0"/>
              <a:t>• Pandas – data cleaning and aggregation</a:t>
            </a:r>
          </a:p>
          <a:p>
            <a:pPr>
              <a:spcAft>
                <a:spcPts val="500"/>
              </a:spcAft>
              <a:defRPr sz="1600"/>
            </a:pPr>
            <a:r>
              <a:rPr lang="en-IN" dirty="0"/>
              <a:t>• NumPy – numerical operations</a:t>
            </a:r>
          </a:p>
          <a:p>
            <a:pPr>
              <a:spcAft>
                <a:spcPts val="500"/>
              </a:spcAft>
              <a:defRPr sz="1600"/>
            </a:pPr>
            <a:r>
              <a:rPr lang="en-IN" dirty="0"/>
              <a:t>• Matplotlib – visualization</a:t>
            </a:r>
          </a:p>
          <a:p>
            <a:pPr>
              <a:spcAft>
                <a:spcPts val="500"/>
              </a:spcAft>
              <a:defRPr sz="1600"/>
            </a:pPr>
            <a:r>
              <a:rPr lang="en-IN" dirty="0"/>
              <a:t>• Seaborn – statistical plots</a:t>
            </a:r>
          </a:p>
          <a:p>
            <a:pPr>
              <a:spcAft>
                <a:spcPts val="500"/>
              </a:spcAft>
              <a:defRPr sz="1600"/>
            </a:pPr>
            <a:r>
              <a:rPr lang="en-IN" dirty="0"/>
              <a:t>• SciPy – statistical tests</a:t>
            </a:r>
          </a:p>
          <a:p>
            <a:pPr>
              <a:spcAft>
                <a:spcPts val="500"/>
              </a:spcAft>
              <a:defRPr sz="1600"/>
            </a:pPr>
            <a:r>
              <a:rPr lang="en-IN" dirty="0"/>
              <a:t>• Jupyter Notebook – analysis and documentation</a:t>
            </a:r>
            <a:endParaRPr lang="en-IN" dirty="0">
              <a:latin typeface="Aptos" panose="020B0004020202020204" pitchFamily="34"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86B7D8C4-E51B-216F-B522-91357D8410E1}"/>
              </a:ext>
            </a:extLst>
          </p:cNvPr>
          <p:cNvPicPr>
            <a:picLocks noChangeAspect="1"/>
          </p:cNvPicPr>
          <p:nvPr/>
        </p:nvPicPr>
        <p:blipFill>
          <a:blip r:embed="rId3"/>
          <a:stretch>
            <a:fillRect/>
          </a:stretch>
        </p:blipFill>
        <p:spPr>
          <a:xfrm>
            <a:off x="806140" y="1461877"/>
            <a:ext cx="6754168" cy="301984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A5D7D76C-0B99-81A7-BD66-AE67D5A5180D}"/>
              </a:ext>
            </a:extLst>
          </p:cNvPr>
          <p:cNvPicPr>
            <a:picLocks noChangeAspect="1"/>
          </p:cNvPicPr>
          <p:nvPr/>
        </p:nvPicPr>
        <p:blipFill>
          <a:blip r:embed="rId3"/>
          <a:stretch>
            <a:fillRect/>
          </a:stretch>
        </p:blipFill>
        <p:spPr>
          <a:xfrm>
            <a:off x="792922" y="1045029"/>
            <a:ext cx="4674817" cy="558219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A998255-EF4D-452D-32EA-F8426288FCA6}"/>
              </a:ext>
            </a:extLst>
          </p:cNvPr>
          <p:cNvPicPr>
            <a:picLocks noChangeAspect="1"/>
          </p:cNvPicPr>
          <p:nvPr/>
        </p:nvPicPr>
        <p:blipFill>
          <a:blip r:embed="rId3"/>
          <a:stretch>
            <a:fillRect/>
          </a:stretch>
        </p:blipFill>
        <p:spPr>
          <a:xfrm>
            <a:off x="675957" y="1124475"/>
            <a:ext cx="5840158" cy="566565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2681E77-976D-45E7-8B87-7FEB89D67A34}"/>
              </a:ext>
            </a:extLst>
          </p:cNvPr>
          <p:cNvPicPr>
            <a:picLocks noChangeAspect="1"/>
          </p:cNvPicPr>
          <p:nvPr/>
        </p:nvPicPr>
        <p:blipFill>
          <a:blip r:embed="rId3"/>
          <a:stretch>
            <a:fillRect/>
          </a:stretch>
        </p:blipFill>
        <p:spPr>
          <a:xfrm>
            <a:off x="1160700" y="1201586"/>
            <a:ext cx="6079855" cy="490628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1392368-DBAB-0CB9-FDFB-1843093F3F21}"/>
              </a:ext>
            </a:extLst>
          </p:cNvPr>
          <p:cNvPicPr>
            <a:picLocks noChangeAspect="1"/>
          </p:cNvPicPr>
          <p:nvPr/>
        </p:nvPicPr>
        <p:blipFill>
          <a:blip r:embed="rId3"/>
          <a:stretch>
            <a:fillRect/>
          </a:stretch>
        </p:blipFill>
        <p:spPr>
          <a:xfrm>
            <a:off x="807164" y="1201586"/>
            <a:ext cx="6220693" cy="495001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7C2140-1F6D-E9BE-19E5-BF65D5AE551B}"/>
              </a:ext>
            </a:extLst>
          </p:cNvPr>
          <p:cNvSpPr>
            <a:spLocks noGrp="1"/>
          </p:cNvSpPr>
          <p:nvPr>
            <p:ph type="title"/>
          </p:nvPr>
        </p:nvSpPr>
        <p:spPr/>
        <p:txBody>
          <a:bodyPr>
            <a:normAutofit/>
          </a:bodyPr>
          <a:lstStyle/>
          <a:p>
            <a:r>
              <a:rPr lang="en-US" sz="3600" dirty="0"/>
              <a:t>RESULTS</a:t>
            </a:r>
            <a:endParaRPr lang="en-IN" sz="3600" dirty="0"/>
          </a:p>
        </p:txBody>
      </p:sp>
      <p:pic>
        <p:nvPicPr>
          <p:cNvPr id="10" name="Picture 9">
            <a:extLst>
              <a:ext uri="{FF2B5EF4-FFF2-40B4-BE49-F238E27FC236}">
                <a16:creationId xmlns:a16="http://schemas.microsoft.com/office/drawing/2014/main" id="{20B16EB9-1B2D-AD32-E45C-FF538A601FD0}"/>
              </a:ext>
            </a:extLst>
          </p:cNvPr>
          <p:cNvPicPr>
            <a:picLocks noChangeAspect="1"/>
          </p:cNvPicPr>
          <p:nvPr/>
        </p:nvPicPr>
        <p:blipFill>
          <a:blip r:embed="rId2"/>
          <a:stretch>
            <a:fillRect/>
          </a:stretch>
        </p:blipFill>
        <p:spPr>
          <a:xfrm>
            <a:off x="660400" y="1565430"/>
            <a:ext cx="7429241" cy="4840532"/>
          </a:xfrm>
          <a:prstGeom prst="rect">
            <a:avLst/>
          </a:prstGeom>
        </p:spPr>
      </p:pic>
    </p:spTree>
    <p:extLst>
      <p:ext uri="{BB962C8B-B14F-4D97-AF65-F5344CB8AC3E}">
        <p14:creationId xmlns:p14="http://schemas.microsoft.com/office/powerpoint/2010/main" val="997171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1B5D7D-F700-021D-A4C1-8F6E2435A6C9}"/>
              </a:ext>
            </a:extLst>
          </p:cNvPr>
          <p:cNvPicPr>
            <a:picLocks noChangeAspect="1"/>
          </p:cNvPicPr>
          <p:nvPr/>
        </p:nvPicPr>
        <p:blipFill>
          <a:blip r:embed="rId2"/>
          <a:stretch>
            <a:fillRect/>
          </a:stretch>
        </p:blipFill>
        <p:spPr>
          <a:xfrm>
            <a:off x="550506" y="1160598"/>
            <a:ext cx="7343557" cy="5230872"/>
          </a:xfrm>
          <a:prstGeom prst="rect">
            <a:avLst/>
          </a:prstGeom>
        </p:spPr>
      </p:pic>
      <p:sp>
        <p:nvSpPr>
          <p:cNvPr id="7" name="TextBox 6">
            <a:extLst>
              <a:ext uri="{FF2B5EF4-FFF2-40B4-BE49-F238E27FC236}">
                <a16:creationId xmlns:a16="http://schemas.microsoft.com/office/drawing/2014/main" id="{F859A204-3225-2167-7AE1-31E4BFCEE1F8}"/>
              </a:ext>
            </a:extLst>
          </p:cNvPr>
          <p:cNvSpPr txBox="1"/>
          <p:nvPr/>
        </p:nvSpPr>
        <p:spPr>
          <a:xfrm>
            <a:off x="858417" y="298579"/>
            <a:ext cx="2016321" cy="646331"/>
          </a:xfrm>
          <a:prstGeom prst="rect">
            <a:avLst/>
          </a:prstGeom>
          <a:noFill/>
        </p:spPr>
        <p:txBody>
          <a:bodyPr wrap="none" rtlCol="0">
            <a:spAutoFit/>
          </a:bodyPr>
          <a:lstStyle/>
          <a:p>
            <a:r>
              <a:rPr lang="en-US" sz="3600" b="1" dirty="0"/>
              <a:t>RESULTS</a:t>
            </a:r>
            <a:endParaRPr lang="en-IN" sz="3600" b="1" dirty="0"/>
          </a:p>
        </p:txBody>
      </p:sp>
    </p:spTree>
    <p:extLst>
      <p:ext uri="{BB962C8B-B14F-4D97-AF65-F5344CB8AC3E}">
        <p14:creationId xmlns:p14="http://schemas.microsoft.com/office/powerpoint/2010/main" val="2189758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F7FF1-43EA-4492-B81F-FEFF5BF8EC7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97645A4-E46E-1F59-3FD6-9D004F96EC33}"/>
              </a:ext>
            </a:extLst>
          </p:cNvPr>
          <p:cNvSpPr txBox="1"/>
          <p:nvPr/>
        </p:nvSpPr>
        <p:spPr>
          <a:xfrm>
            <a:off x="858417" y="298579"/>
            <a:ext cx="2016321" cy="646331"/>
          </a:xfrm>
          <a:prstGeom prst="rect">
            <a:avLst/>
          </a:prstGeom>
          <a:noFill/>
        </p:spPr>
        <p:txBody>
          <a:bodyPr wrap="none" rtlCol="0">
            <a:spAutoFit/>
          </a:bodyPr>
          <a:lstStyle/>
          <a:p>
            <a:r>
              <a:rPr lang="en-US" sz="3600" b="1" dirty="0"/>
              <a:t>RESULTS</a:t>
            </a:r>
            <a:endParaRPr lang="en-IN" sz="3600" b="1" dirty="0"/>
          </a:p>
        </p:txBody>
      </p:sp>
      <p:pic>
        <p:nvPicPr>
          <p:cNvPr id="3" name="Picture 2">
            <a:extLst>
              <a:ext uri="{FF2B5EF4-FFF2-40B4-BE49-F238E27FC236}">
                <a16:creationId xmlns:a16="http://schemas.microsoft.com/office/drawing/2014/main" id="{79471DA6-8CDC-0F0E-A197-13340042F8F8}"/>
              </a:ext>
            </a:extLst>
          </p:cNvPr>
          <p:cNvPicPr>
            <a:picLocks noChangeAspect="1"/>
          </p:cNvPicPr>
          <p:nvPr/>
        </p:nvPicPr>
        <p:blipFill>
          <a:blip r:embed="rId2"/>
          <a:stretch>
            <a:fillRect/>
          </a:stretch>
        </p:blipFill>
        <p:spPr>
          <a:xfrm>
            <a:off x="1156135" y="1091526"/>
            <a:ext cx="5382376" cy="5010849"/>
          </a:xfrm>
          <a:prstGeom prst="rect">
            <a:avLst/>
          </a:prstGeom>
        </p:spPr>
      </p:pic>
    </p:spTree>
    <p:extLst>
      <p:ext uri="{BB962C8B-B14F-4D97-AF65-F5344CB8AC3E}">
        <p14:creationId xmlns:p14="http://schemas.microsoft.com/office/powerpoint/2010/main" val="833702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28989-4DD3-45CF-F149-941D7F61040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3984CFC-8CD8-B0B9-0304-4328D06C5876}"/>
              </a:ext>
            </a:extLst>
          </p:cNvPr>
          <p:cNvSpPr txBox="1"/>
          <p:nvPr/>
        </p:nvSpPr>
        <p:spPr>
          <a:xfrm>
            <a:off x="858417" y="298579"/>
            <a:ext cx="2016321" cy="646331"/>
          </a:xfrm>
          <a:prstGeom prst="rect">
            <a:avLst/>
          </a:prstGeom>
          <a:noFill/>
        </p:spPr>
        <p:txBody>
          <a:bodyPr wrap="none" rtlCol="0">
            <a:spAutoFit/>
          </a:bodyPr>
          <a:lstStyle/>
          <a:p>
            <a:r>
              <a:rPr lang="en-US" sz="3600" b="1" dirty="0"/>
              <a:t>RESULTS</a:t>
            </a:r>
            <a:endParaRPr lang="en-IN" sz="3600" b="1" dirty="0"/>
          </a:p>
        </p:txBody>
      </p:sp>
      <p:pic>
        <p:nvPicPr>
          <p:cNvPr id="4" name="Picture 3">
            <a:extLst>
              <a:ext uri="{FF2B5EF4-FFF2-40B4-BE49-F238E27FC236}">
                <a16:creationId xmlns:a16="http://schemas.microsoft.com/office/drawing/2014/main" id="{2C52F487-B356-3AA7-C615-B9BE5016ED3F}"/>
              </a:ext>
            </a:extLst>
          </p:cNvPr>
          <p:cNvPicPr>
            <a:picLocks noChangeAspect="1"/>
          </p:cNvPicPr>
          <p:nvPr/>
        </p:nvPicPr>
        <p:blipFill>
          <a:blip r:embed="rId2"/>
          <a:stretch>
            <a:fillRect/>
          </a:stretch>
        </p:blipFill>
        <p:spPr>
          <a:xfrm>
            <a:off x="782390" y="1137066"/>
            <a:ext cx="7335243" cy="5021138"/>
          </a:xfrm>
          <a:prstGeom prst="rect">
            <a:avLst/>
          </a:prstGeom>
        </p:spPr>
      </p:pic>
    </p:spTree>
    <p:extLst>
      <p:ext uri="{BB962C8B-B14F-4D97-AF65-F5344CB8AC3E}">
        <p14:creationId xmlns:p14="http://schemas.microsoft.com/office/powerpoint/2010/main" val="3474779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7368273" cy="502745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lgn="l">
              <a:spcBef>
                <a:spcPts val="0"/>
              </a:spcBef>
              <a:spcAft>
                <a:spcPts val="500"/>
              </a:spcAft>
              <a:buClrTx/>
              <a:buSzTx/>
              <a:defRPr sz="1600"/>
            </a:pPr>
            <a:r>
              <a:rPr lang="en-US" sz="2000">
                <a:solidFill>
                  <a:prstClr val="black"/>
                </a:solidFill>
              </a:rPr>
              <a:t>• Machine-learning models for yield and profit prediction</a:t>
            </a:r>
          </a:p>
          <a:p>
            <a:pPr lvl="0" algn="l">
              <a:spcBef>
                <a:spcPts val="0"/>
              </a:spcBef>
              <a:spcAft>
                <a:spcPts val="500"/>
              </a:spcAft>
              <a:buClrTx/>
              <a:buSzTx/>
              <a:defRPr sz="1600"/>
            </a:pPr>
            <a:r>
              <a:rPr lang="en-US" sz="2000">
                <a:solidFill>
                  <a:prstClr val="black"/>
                </a:solidFill>
              </a:rPr>
              <a:t>• Multi-year weather and market-price integration</a:t>
            </a:r>
          </a:p>
          <a:p>
            <a:pPr lvl="0" algn="l">
              <a:spcBef>
                <a:spcPts val="0"/>
              </a:spcBef>
              <a:spcAft>
                <a:spcPts val="500"/>
              </a:spcAft>
              <a:buClrTx/>
              <a:buSzTx/>
              <a:defRPr sz="1600"/>
            </a:pPr>
            <a:r>
              <a:rPr lang="en-US" sz="2000">
                <a:solidFill>
                  <a:prstClr val="black"/>
                </a:solidFill>
              </a:rPr>
              <a:t>• Farmer-facing dashboard</a:t>
            </a:r>
          </a:p>
          <a:p>
            <a:pPr lvl="0" algn="l">
              <a:spcBef>
                <a:spcPts val="0"/>
              </a:spcBef>
              <a:spcAft>
                <a:spcPts val="500"/>
              </a:spcAft>
              <a:buClrTx/>
              <a:buSzTx/>
              <a:defRPr sz="1600"/>
            </a:pPr>
            <a:r>
              <a:rPr lang="en-US" sz="2000">
                <a:solidFill>
                  <a:prstClr val="black"/>
                </a:solidFill>
              </a:rPr>
              <a:t>• Location-specific crop recommendations</a:t>
            </a:r>
          </a:p>
          <a:p>
            <a:pPr lvl="0" algn="l">
              <a:spcBef>
                <a:spcPts val="0"/>
              </a:spcBef>
              <a:spcAft>
                <a:spcPts val="500"/>
              </a:spcAft>
              <a:buClrTx/>
              <a:buSzTx/>
              <a:defRPr sz="1600"/>
            </a:pPr>
            <a:r>
              <a:rPr lang="en-US" sz="2000">
                <a:solidFill>
                  <a:prstClr val="black"/>
                </a:solidFill>
              </a:rPr>
              <a:t>• Irrigation and disease/pest forecasting</a:t>
            </a:r>
          </a:p>
          <a:p>
            <a:pPr lvl="0" algn="l">
              <a:spcBef>
                <a:spcPts val="0"/>
              </a:spcBef>
              <a:spcAft>
                <a:spcPts val="500"/>
              </a:spcAft>
              <a:buClrTx/>
              <a:buSzTx/>
              <a:defRPr sz="1600"/>
            </a:pPr>
            <a:r>
              <a:rPr lang="en-US" sz="2000">
                <a:solidFill>
                  <a:prstClr val="black"/>
                </a:solidFill>
              </a:rPr>
              <a:t>• Model comparison using suitable evaluation metrics</a:t>
            </a:r>
            <a:endParaRPr lang="en-US" sz="2000" dirty="0">
              <a:solidFill>
                <a:prstClr val="black"/>
              </a:solidFill>
            </a:endParaRP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687829"/>
            <a:ext cx="6489954" cy="3781534"/>
          </a:xfrm>
        </p:spPr>
        <p:txBody>
          <a:bodyPr>
            <a:normAutofit/>
          </a:bodyPr>
          <a:lstStyle/>
          <a:p>
            <a:r>
              <a:rPr lang="en-IN" sz="4000" dirty="0"/>
              <a:t>GitHub Link:</a:t>
            </a:r>
            <a:br>
              <a:rPr lang="en-IN" sz="4000" dirty="0"/>
            </a:br>
            <a:r>
              <a:rPr lang="en-IN" sz="1800" dirty="0"/>
              <a:t>https://github.com/shivansh0052/Seasonal-Agriculture-Performance-Analysis</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6324747" cy="666077"/>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11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2200" b="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7242048-DCB2-E3EF-EF99-3C9836F3EA46}"/>
              </a:ext>
            </a:extLst>
          </p:cNvPr>
          <p:cNvPicPr>
            <a:picLocks noChangeAspect="1"/>
          </p:cNvPicPr>
          <p:nvPr/>
        </p:nvPicPr>
        <p:blipFill>
          <a:blip r:embed="rId3"/>
          <a:stretch>
            <a:fillRect/>
          </a:stretch>
        </p:blipFill>
        <p:spPr>
          <a:xfrm>
            <a:off x="675957" y="1608410"/>
            <a:ext cx="6758526" cy="481412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193039"/>
            <a:ext cx="11340000" cy="6060803"/>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608</TotalTime>
  <Words>352</Words>
  <Application>Microsoft Office PowerPoint</Application>
  <PresentationFormat>Widescreen</PresentationFormat>
  <Paragraphs>51</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Calibri</vt:lpstr>
      <vt:lpstr>Trebuchet MS</vt:lpstr>
      <vt:lpstr>Wingdings</vt:lpstr>
      <vt:lpstr>Wingdings 3</vt:lpstr>
      <vt:lpstr>Facet</vt:lpstr>
      <vt:lpstr>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RESULTS</vt:lpstr>
      <vt:lpstr>PowerPoint Presentation</vt:lpstr>
      <vt:lpstr>PowerPoint Presentation</vt:lpstr>
      <vt:lpstr>PowerPoint Presentation</vt:lpstr>
      <vt:lpstr>Future scope</vt:lpstr>
      <vt:lpstr>GitHub Link: https://github.com/shivansh0052/Seasonal-Agriculture-Performance-Analysis</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shivansh mishra</cp:lastModifiedBy>
  <cp:revision>98</cp:revision>
  <dcterms:created xsi:type="dcterms:W3CDTF">2021-07-11T13:13:15Z</dcterms:created>
  <dcterms:modified xsi:type="dcterms:W3CDTF">2026-09-15T18:25:18Z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